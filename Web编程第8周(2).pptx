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25"/>
  </p:notesMasterIdLst>
  <p:handoutMasterIdLst>
    <p:handoutMasterId r:id="rId26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Cai" initials="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1" Type="http://schemas.openxmlformats.org/officeDocument/2006/relationships/tags" Target="tags/tag193.xml"/><Relationship Id="rId30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image" Target="../media/image2.jpeg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4" Type="http://schemas.openxmlformats.org/officeDocument/2006/relationships/tags" Target="../tags/tag171.xml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486847" y="2130501"/>
            <a:ext cx="6185195" cy="898964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486847" y="3406073"/>
            <a:ext cx="6246303" cy="474313"/>
          </a:xfrm>
        </p:spPr>
        <p:txBody>
          <a:bodyPr lIns="90000" tIns="0" rIns="90000" bIns="468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1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grpSp>
        <p:nvGrpSpPr>
          <p:cNvPr id="4" name="组合 3"/>
          <p:cNvGrpSpPr/>
          <p:nvPr userDrawn="1">
            <p:custDataLst>
              <p:tags r:id="rId7"/>
            </p:custDataLst>
          </p:nvPr>
        </p:nvGrpSpPr>
        <p:grpSpPr>
          <a:xfrm>
            <a:off x="-19745" y="0"/>
            <a:ext cx="11817587" cy="6892260"/>
            <a:chOff x="-19745" y="0"/>
            <a:chExt cx="11817586" cy="6892260"/>
          </a:xfrm>
        </p:grpSpPr>
        <p:sp>
          <p:nvSpPr>
            <p:cNvPr id="7" name="任意多边形: 形状 6"/>
            <p:cNvSpPr/>
            <p:nvPr userDrawn="1">
              <p:custDataLst>
                <p:tags r:id="rId8"/>
              </p:custDataLst>
            </p:nvPr>
          </p:nvSpPr>
          <p:spPr>
            <a:xfrm rot="10800000">
              <a:off x="-19745" y="0"/>
              <a:ext cx="2427300" cy="2764457"/>
            </a:xfrm>
            <a:custGeom>
              <a:avLst/>
              <a:gdLst>
                <a:gd name="connsiteX0" fmla="*/ 2427300 w 2427300"/>
                <a:gd name="connsiteY0" fmla="*/ 2764457 h 2764457"/>
                <a:gd name="connsiteX1" fmla="*/ 0 w 2427300"/>
                <a:gd name="connsiteY1" fmla="*/ 2764457 h 2764457"/>
                <a:gd name="connsiteX2" fmla="*/ 1742483 w 2427300"/>
                <a:gd name="connsiteY2" fmla="*/ 0 h 2764457"/>
                <a:gd name="connsiteX3" fmla="*/ 2427300 w 2427300"/>
                <a:gd name="connsiteY3" fmla="*/ 1086466 h 2764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7300" h="2764457">
                  <a:moveTo>
                    <a:pt x="2427300" y="2764457"/>
                  </a:moveTo>
                  <a:lnTo>
                    <a:pt x="0" y="2764457"/>
                  </a:lnTo>
                  <a:lnTo>
                    <a:pt x="1742483" y="0"/>
                  </a:lnTo>
                  <a:lnTo>
                    <a:pt x="2427300" y="108646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任意多边形: 形状 7"/>
            <p:cNvSpPr/>
            <p:nvPr userDrawn="1">
              <p:custDataLst>
                <p:tags r:id="rId9"/>
              </p:custDataLst>
            </p:nvPr>
          </p:nvSpPr>
          <p:spPr>
            <a:xfrm>
              <a:off x="-19744" y="3106180"/>
              <a:ext cx="2880823" cy="3786080"/>
            </a:xfrm>
            <a:custGeom>
              <a:avLst/>
              <a:gdLst>
                <a:gd name="connsiteX0" fmla="*/ 684897 w 2880823"/>
                <a:gd name="connsiteY0" fmla="*/ 0 h 3786080"/>
                <a:gd name="connsiteX1" fmla="*/ 2880823 w 2880823"/>
                <a:gd name="connsiteY1" fmla="*/ 3786080 h 3786080"/>
                <a:gd name="connsiteX2" fmla="*/ 0 w 2880823"/>
                <a:gd name="connsiteY2" fmla="*/ 3786080 h 3786080"/>
                <a:gd name="connsiteX3" fmla="*/ 0 w 2880823"/>
                <a:gd name="connsiteY3" fmla="*/ 1180857 h 3786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0823" h="3786080">
                  <a:moveTo>
                    <a:pt x="684897" y="0"/>
                  </a:moveTo>
                  <a:lnTo>
                    <a:pt x="2880823" y="3786080"/>
                  </a:lnTo>
                  <a:lnTo>
                    <a:pt x="0" y="3786080"/>
                  </a:lnTo>
                  <a:lnTo>
                    <a:pt x="0" y="11808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任意多边形: 形状 8"/>
            <p:cNvSpPr/>
            <p:nvPr userDrawn="1">
              <p:custDataLst>
                <p:tags r:id="rId10"/>
              </p:custDataLst>
            </p:nvPr>
          </p:nvSpPr>
          <p:spPr>
            <a:xfrm rot="5400000">
              <a:off x="-712814" y="2685879"/>
              <a:ext cx="1978851" cy="592710"/>
            </a:xfrm>
            <a:custGeom>
              <a:avLst/>
              <a:gdLst>
                <a:gd name="connsiteX0" fmla="*/ 0 w 1978851"/>
                <a:gd name="connsiteY0" fmla="*/ 592710 h 592710"/>
                <a:gd name="connsiteX1" fmla="*/ 989425 w 1978851"/>
                <a:gd name="connsiteY1" fmla="*/ 0 h 592710"/>
                <a:gd name="connsiteX2" fmla="*/ 1978851 w 1978851"/>
                <a:gd name="connsiteY2" fmla="*/ 592710 h 592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78851" h="592710">
                  <a:moveTo>
                    <a:pt x="0" y="592710"/>
                  </a:moveTo>
                  <a:lnTo>
                    <a:pt x="989425" y="0"/>
                  </a:lnTo>
                  <a:lnTo>
                    <a:pt x="1978851" y="5927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11"/>
            <p:cNvSpPr/>
            <p:nvPr userDrawn="1">
              <p:custDataLst>
                <p:tags r:id="rId11"/>
              </p:custDataLst>
            </p:nvPr>
          </p:nvSpPr>
          <p:spPr>
            <a:xfrm>
              <a:off x="2861079" y="5298431"/>
              <a:ext cx="1848842" cy="159382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13"/>
            <p:cNvSpPr/>
            <p:nvPr userDrawn="1">
              <p:custDataLst>
                <p:tags r:id="rId12"/>
              </p:custDataLst>
            </p:nvPr>
          </p:nvSpPr>
          <p:spPr>
            <a:xfrm rot="3600000">
              <a:off x="1132840" y="1963551"/>
              <a:ext cx="3794133" cy="3270803"/>
            </a:xfrm>
            <a:prstGeom prst="triangle">
              <a:avLst/>
            </a:prstGeom>
            <a:blipFill dpi="0" rotWithShape="0">
              <a:blip r:embed="rId13"/>
              <a:srcRect/>
              <a:stretch>
                <a:fillRect t="1000" b="-2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12" name="组合 11"/>
            <p:cNvGrpSpPr/>
            <p:nvPr userDrawn="1">
              <p:custDataLst>
                <p:tags r:id="rId14"/>
              </p:custDataLst>
            </p:nvPr>
          </p:nvGrpSpPr>
          <p:grpSpPr>
            <a:xfrm>
              <a:off x="11668459" y="549424"/>
              <a:ext cx="129382" cy="473109"/>
              <a:chOff x="11537206" y="483307"/>
              <a:chExt cx="201523" cy="736906"/>
            </a:xfrm>
            <a:solidFill>
              <a:schemeClr val="accent1"/>
            </a:solidFill>
          </p:grpSpPr>
          <p:sp>
            <p:nvSpPr>
              <p:cNvPr id="13" name="椭圆 12"/>
              <p:cNvSpPr/>
              <p:nvPr>
                <p:custDataLst>
                  <p:tags r:id="rId15"/>
                </p:custDataLst>
              </p:nvPr>
            </p:nvSpPr>
            <p:spPr>
              <a:xfrm>
                <a:off x="11537206" y="483307"/>
                <a:ext cx="195943" cy="1959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4" name="椭圆 13"/>
              <p:cNvSpPr/>
              <p:nvPr>
                <p:custDataLst>
                  <p:tags r:id="rId16"/>
                </p:custDataLst>
              </p:nvPr>
            </p:nvSpPr>
            <p:spPr>
              <a:xfrm>
                <a:off x="11537207" y="744908"/>
                <a:ext cx="195943" cy="1959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5" name="椭圆 14"/>
              <p:cNvSpPr/>
              <p:nvPr>
                <p:custDataLst>
                  <p:tags r:id="rId17"/>
                </p:custDataLst>
              </p:nvPr>
            </p:nvSpPr>
            <p:spPr>
              <a:xfrm>
                <a:off x="11542786" y="1024270"/>
                <a:ext cx="195943" cy="1959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sp>
          <p:nvSpPr>
            <p:cNvPr id="19" name="圆角矩形 20"/>
            <p:cNvSpPr/>
            <p:nvPr userDrawn="1">
              <p:custDataLst>
                <p:tags r:id="rId18"/>
              </p:custDataLst>
            </p:nvPr>
          </p:nvSpPr>
          <p:spPr>
            <a:xfrm>
              <a:off x="5633482" y="3158748"/>
              <a:ext cx="1163781" cy="7482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三角形 12"/>
            <p:cNvSpPr/>
            <p:nvPr userDrawn="1">
              <p:custDataLst>
                <p:tags r:id="rId19"/>
              </p:custDataLst>
            </p:nvPr>
          </p:nvSpPr>
          <p:spPr>
            <a:xfrm rot="3600000">
              <a:off x="1574330" y="1748429"/>
              <a:ext cx="3794133" cy="327080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9876791" y="5137309"/>
            <a:ext cx="1864995" cy="404813"/>
          </a:xfrm>
        </p:spPr>
        <p:txBody>
          <a:bodyPr lIns="90000" tIns="46800" rIns="90000" bIns="0" anchor="b" anchorCtr="0"/>
          <a:lstStyle>
            <a:lvl1pPr marL="0" indent="0"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9876791" y="5717064"/>
            <a:ext cx="1864995" cy="404813"/>
          </a:xfrm>
        </p:spPr>
        <p:txBody>
          <a:bodyPr lIns="90000" tIns="0" rIns="90000" bIns="46800" anchor="t" anchorCtr="0"/>
          <a:lstStyle>
            <a:lvl1pPr marL="0" indent="0"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60000" y="360000"/>
            <a:ext cx="11520000" cy="720000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360000" y="1260000"/>
            <a:ext cx="11520000" cy="504000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360000" y="6480000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6000" y="6480000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280000" y="6480000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528157" y="0"/>
            <a:ext cx="11663843" cy="6892260"/>
            <a:chOff x="528157" y="0"/>
            <a:chExt cx="11663843" cy="6892260"/>
          </a:xfrm>
        </p:grpSpPr>
        <p:sp>
          <p:nvSpPr>
            <p:cNvPr id="7" name="三角形 6"/>
            <p:cNvSpPr/>
            <p:nvPr userDrawn="1">
              <p:custDataLst>
                <p:tags r:id="rId3"/>
              </p:custDataLst>
            </p:nvPr>
          </p:nvSpPr>
          <p:spPr>
            <a:xfrm rot="10800000">
              <a:off x="528157" y="0"/>
              <a:ext cx="2080887" cy="1650670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三角形 7"/>
            <p:cNvSpPr/>
            <p:nvPr userDrawn="1">
              <p:custDataLst>
                <p:tags r:id="rId4"/>
              </p:custDataLst>
            </p:nvPr>
          </p:nvSpPr>
          <p:spPr>
            <a:xfrm>
              <a:off x="9227714" y="5093898"/>
              <a:ext cx="2086099" cy="179836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8"/>
            <p:cNvSpPr/>
            <p:nvPr userDrawn="1">
              <p:custDataLst>
                <p:tags r:id="rId5"/>
              </p:custDataLst>
            </p:nvPr>
          </p:nvSpPr>
          <p:spPr>
            <a:xfrm>
              <a:off x="11313813" y="6135202"/>
              <a:ext cx="878187" cy="757058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9"/>
            <p:cNvSpPr/>
            <p:nvPr userDrawn="1">
              <p:custDataLst>
                <p:tags r:id="rId6"/>
              </p:custDataLst>
            </p:nvPr>
          </p:nvSpPr>
          <p:spPr>
            <a:xfrm>
              <a:off x="2133732" y="1992725"/>
              <a:ext cx="2699999" cy="232758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4992979" y="3109836"/>
            <a:ext cx="4846987" cy="584007"/>
          </a:xfrm>
        </p:spPr>
        <p:txBody>
          <a:bodyPr lIns="90000" tIns="46800" rIns="90000" bIns="0" anchor="b" anchorCtr="0">
            <a:normAutofit/>
          </a:bodyPr>
          <a:lstStyle>
            <a:lvl1pPr>
              <a:defRPr sz="27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4992979" y="3949176"/>
            <a:ext cx="4846987" cy="584007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35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7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238877" y="1626121"/>
            <a:ext cx="5283243" cy="404168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1" name="任意多边形: 形状 10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3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9"/>
            </p:custDataLst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0"/>
            </p:custDataLst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1" y="498476"/>
            <a:ext cx="10852237" cy="331473"/>
          </a:xfrm>
        </p:spPr>
        <p:txBody>
          <a:bodyPr lIns="90000" tIns="46800" rIns="90000" bIns="46800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7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8"/>
            </p:custDataLst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6"/>
            </p:custDataLst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7"/>
            </p:custDataLst>
          </p:nvPr>
        </p:nvSpPr>
        <p:spPr>
          <a:xfrm>
            <a:off x="669925" y="1626113"/>
            <a:ext cx="9828101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10638975" y="5416759"/>
            <a:ext cx="1553024" cy="1432837"/>
            <a:chOff x="10898426" y="5656127"/>
            <a:chExt cx="1293583" cy="1193474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10898426" y="6156793"/>
              <a:ext cx="678847" cy="69280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20" y="5656127"/>
              <a:ext cx="771189" cy="1193474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3028067" y="0"/>
            <a:ext cx="6276189" cy="6858000"/>
            <a:chOff x="3028067" y="0"/>
            <a:chExt cx="6276189" cy="6858000"/>
          </a:xfrm>
        </p:grpSpPr>
        <p:sp>
          <p:nvSpPr>
            <p:cNvPr id="6" name="三角形 3"/>
            <p:cNvSpPr/>
            <p:nvPr userDrawn="1">
              <p:custDataLst>
                <p:tags r:id="rId3"/>
              </p:custDataLst>
            </p:nvPr>
          </p:nvSpPr>
          <p:spPr>
            <a:xfrm rot="10800000">
              <a:off x="5055555" y="0"/>
              <a:ext cx="2080887" cy="165067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任意多边形: 形状 6"/>
            <p:cNvSpPr/>
            <p:nvPr userDrawn="1">
              <p:custDataLst>
                <p:tags r:id="rId4"/>
              </p:custDataLst>
            </p:nvPr>
          </p:nvSpPr>
          <p:spPr>
            <a:xfrm>
              <a:off x="5676777" y="6135202"/>
              <a:ext cx="838445" cy="722798"/>
            </a:xfrm>
            <a:custGeom>
              <a:avLst/>
              <a:gdLst>
                <a:gd name="connsiteX0" fmla="*/ 419223 w 838445"/>
                <a:gd name="connsiteY0" fmla="*/ 0 h 722798"/>
                <a:gd name="connsiteX1" fmla="*/ 838445 w 838445"/>
                <a:gd name="connsiteY1" fmla="*/ 722798 h 722798"/>
                <a:gd name="connsiteX2" fmla="*/ 0 w 838445"/>
                <a:gd name="connsiteY2" fmla="*/ 722798 h 722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8445" h="722798">
                  <a:moveTo>
                    <a:pt x="419223" y="0"/>
                  </a:moveTo>
                  <a:lnTo>
                    <a:pt x="838445" y="722798"/>
                  </a:lnTo>
                  <a:lnTo>
                    <a:pt x="0" y="7227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三角形 5"/>
            <p:cNvSpPr/>
            <p:nvPr userDrawn="1">
              <p:custDataLst>
                <p:tags r:id="rId5"/>
              </p:custDataLst>
            </p:nvPr>
          </p:nvSpPr>
          <p:spPr>
            <a:xfrm>
              <a:off x="3028067" y="2477828"/>
              <a:ext cx="392165" cy="33807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6"/>
            <p:cNvSpPr/>
            <p:nvPr userDrawn="1">
              <p:custDataLst>
                <p:tags r:id="rId6"/>
              </p:custDataLst>
            </p:nvPr>
          </p:nvSpPr>
          <p:spPr>
            <a:xfrm rot="2748548">
              <a:off x="8939137" y="3459125"/>
              <a:ext cx="392165" cy="33807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3420232" y="2917321"/>
            <a:ext cx="5352795" cy="900247"/>
          </a:xfrm>
        </p:spPr>
        <p:txBody>
          <a:bodyPr vert="horz" lIns="90000" tIns="46800" rIns="9000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95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3419475" y="4115997"/>
            <a:ext cx="5457825" cy="541734"/>
          </a:xfrm>
        </p:spPr>
        <p:txBody>
          <a:bodyPr lIns="91440" tIns="0" rIns="91440" bIns="45720"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spc="300" baseline="0"/>
            </a:lvl1pPr>
          </a:lstStyle>
          <a:p>
            <a:pPr lvl="0"/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3" name="任意多边形: 形状 12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1" y="498476"/>
            <a:ext cx="10852237" cy="331473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1" cy="62496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 baseline="0">
              <a:solidFill>
                <a:schemeClr val="tx1">
                  <a:lumMod val="85000"/>
                  <a:lumOff val="1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三角形 6"/>
          <p:cNvSpPr/>
          <p:nvPr userDrawn="1">
            <p:custDataLst>
              <p:tags r:id="rId3"/>
            </p:custDataLst>
          </p:nvPr>
        </p:nvSpPr>
        <p:spPr>
          <a:xfrm rot="10800000">
            <a:off x="240665" y="0"/>
            <a:ext cx="1268731" cy="82550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三角形 7"/>
          <p:cNvSpPr/>
          <p:nvPr userDrawn="1">
            <p:custDataLst>
              <p:tags r:id="rId4"/>
            </p:custDataLst>
          </p:nvPr>
        </p:nvSpPr>
        <p:spPr>
          <a:xfrm>
            <a:off x="10157460" y="5823585"/>
            <a:ext cx="1449071" cy="102997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三角形 8"/>
          <p:cNvSpPr/>
          <p:nvPr userDrawn="1">
            <p:custDataLst>
              <p:tags r:id="rId5"/>
            </p:custDataLst>
          </p:nvPr>
        </p:nvSpPr>
        <p:spPr>
          <a:xfrm>
            <a:off x="11200765" y="6153150"/>
            <a:ext cx="991235" cy="70485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kumimoji="1" lang="zh-CN" alt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>
          <a:xfrm>
            <a:off x="1281600" y="1339650"/>
            <a:ext cx="9626400" cy="542700"/>
          </a:xfrm>
        </p:spPr>
        <p:txBody>
          <a:bodyPr anchor="ctr">
            <a:normAutofit/>
          </a:bodyPr>
          <a:lstStyle>
            <a:lvl1pPr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 hasCustomPrompt="1"/>
            <p:custDataLst>
              <p:tags r:id="rId7"/>
            </p:custDataLst>
          </p:nvPr>
        </p:nvSpPr>
        <p:spPr>
          <a:xfrm>
            <a:off x="1281113" y="2594250"/>
            <a:ext cx="9626600" cy="25839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4" name="组合 13"/>
          <p:cNvGrpSpPr/>
          <p:nvPr userDrawn="1">
            <p:custDataLst>
              <p:tags r:id="rId3"/>
            </p:custDataLst>
          </p:nvPr>
        </p:nvGrpSpPr>
        <p:grpSpPr>
          <a:xfrm>
            <a:off x="-1" y="5207000"/>
            <a:ext cx="1807912" cy="1667994"/>
            <a:chOff x="-1" y="5000255"/>
            <a:chExt cx="2032000" cy="1874739"/>
          </a:xfrm>
        </p:grpSpPr>
        <p:sp>
          <p:nvSpPr>
            <p:cNvPr id="15" name="任意多边形: 形状 14"/>
            <p:cNvSpPr/>
            <p:nvPr>
              <p:custDataLst>
                <p:tags r:id="rId4"/>
              </p:custDataLst>
            </p:nvPr>
          </p:nvSpPr>
          <p:spPr>
            <a:xfrm flipH="1">
              <a:off x="965649" y="5786718"/>
              <a:ext cx="1066350" cy="108827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三角形 7"/>
            <p:cNvSpPr/>
            <p:nvPr>
              <p:custDataLst>
                <p:tags r:id="rId5"/>
              </p:custDataLst>
            </p:nvPr>
          </p:nvSpPr>
          <p:spPr>
            <a:xfrm flipH="1">
              <a:off x="-1" y="5000255"/>
              <a:ext cx="1211405" cy="1874739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8"/>
            <p:cNvSpPr/>
            <p:nvPr>
              <p:custDataLst>
                <p:tags r:id="rId6"/>
              </p:custDataLst>
            </p:nvPr>
          </p:nvSpPr>
          <p:spPr>
            <a:xfrm rot="10800000" flipH="1">
              <a:off x="594749" y="5786311"/>
              <a:ext cx="636641" cy="472228"/>
            </a:xfrm>
            <a:prstGeom prst="triangle">
              <a:avLst/>
            </a:prstGeom>
            <a:solidFill>
              <a:schemeClr val="accent3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7"/>
            </p:custDataLst>
          </p:nvPr>
        </p:nvSpPr>
        <p:spPr>
          <a:xfrm>
            <a:off x="583200" y="880650"/>
            <a:ext cx="3960000" cy="661500"/>
          </a:xfrm>
        </p:spPr>
        <p:txBody>
          <a:bodyPr anchor="ctr">
            <a:normAutofit/>
          </a:bodyPr>
          <a:lstStyle>
            <a:lvl1pPr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586800" y="2275650"/>
            <a:ext cx="3956400" cy="3069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5101200" y="1405930"/>
            <a:ext cx="6480000" cy="3815953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 flipH="1">
            <a:off x="10638971" y="0"/>
            <a:ext cx="1553029" cy="1432837"/>
            <a:chOff x="10898414" y="5656121"/>
            <a:chExt cx="1293586" cy="1193473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7"/>
            <p:cNvSpPr/>
            <p:nvPr>
              <p:custDataLst>
                <p:tags r:id="rId5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三角形 8"/>
            <p:cNvSpPr/>
            <p:nvPr>
              <p:custDataLst>
                <p:tags r:id="rId6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12000" y="859500"/>
            <a:ext cx="10976400" cy="469800"/>
          </a:xfrm>
        </p:spPr>
        <p:txBody>
          <a:bodyPr anchor="ctr"/>
          <a:lstStyle>
            <a:lvl1pPr algn="ctr">
              <a:defRPr sz="27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612000" y="1763100"/>
            <a:ext cx="10975975" cy="621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612775" y="3236850"/>
            <a:ext cx="10965600" cy="25731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>
            <p:custDataLst>
              <p:tags r:id="rId2"/>
            </p:custDataLst>
          </p:nvPr>
        </p:nvGrpSpPr>
        <p:grpSpPr>
          <a:xfrm rot="10800000" flipH="1">
            <a:off x="10638971" y="0"/>
            <a:ext cx="1553029" cy="1432837"/>
            <a:chOff x="10898414" y="5656121"/>
            <a:chExt cx="1293586" cy="1193473"/>
          </a:xfrm>
        </p:grpSpPr>
        <p:sp>
          <p:nvSpPr>
            <p:cNvPr id="16" name="任意多边形: 形状 15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6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04800" y="740250"/>
            <a:ext cx="10976400" cy="423900"/>
          </a:xfrm>
        </p:spPr>
        <p:txBody>
          <a:bodyPr lIns="90000" tIns="46800" rIns="90000" bIns="46800" anchor="ctr">
            <a:normAutofit/>
          </a:bodyPr>
          <a:lstStyle>
            <a:lvl1pPr algn="ctr">
              <a:lnSpc>
                <a:spcPct val="100000"/>
              </a:lnSpc>
              <a:defRPr sz="24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1"/>
            </p:custDataLst>
          </p:nvPr>
        </p:nvSpPr>
        <p:spPr>
          <a:xfrm>
            <a:off x="604837" y="2082600"/>
            <a:ext cx="10990800" cy="2408400"/>
          </a:xfrm>
        </p:spPr>
        <p:txBody>
          <a:bodyPr lIns="90000" tIns="46800" rIns="90000" bIns="46800"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2"/>
            </p:custDataLst>
          </p:nvPr>
        </p:nvSpPr>
        <p:spPr>
          <a:xfrm>
            <a:off x="594000" y="5306850"/>
            <a:ext cx="11001600" cy="758700"/>
          </a:xfrm>
        </p:spPr>
        <p:txBody>
          <a:bodyPr lIns="90000" tIns="46800" rIns="90000" bIns="468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79600" y="292846"/>
            <a:ext cx="11037600" cy="33147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242400" y="2025000"/>
            <a:ext cx="5367600" cy="217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572400" y="4914450"/>
            <a:ext cx="5342400" cy="585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6253200" y="4910850"/>
            <a:ext cx="5367600" cy="585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1576668"/>
            <a:ext cx="12192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9" name="组合 18"/>
          <p:cNvGrpSpPr/>
          <p:nvPr userDrawn="1">
            <p:custDataLst>
              <p:tags r:id="rId3"/>
            </p:custDataLst>
          </p:nvPr>
        </p:nvGrpSpPr>
        <p:grpSpPr>
          <a:xfrm>
            <a:off x="0" y="4462145"/>
            <a:ext cx="2067560" cy="2386965"/>
            <a:chOff x="0" y="4462199"/>
            <a:chExt cx="2587015" cy="2386801"/>
          </a:xfrm>
        </p:grpSpPr>
        <p:sp>
          <p:nvSpPr>
            <p:cNvPr id="20" name="任意多边形: 形状 19"/>
            <p:cNvSpPr/>
            <p:nvPr>
              <p:custDataLst>
                <p:tags r:id="rId4"/>
              </p:custDataLst>
            </p:nvPr>
          </p:nvSpPr>
          <p:spPr>
            <a:xfrm flipH="1">
              <a:off x="1229405" y="5463474"/>
              <a:ext cx="1357610" cy="138552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三角形 7"/>
            <p:cNvSpPr/>
            <p:nvPr>
              <p:custDataLst>
                <p:tags r:id="rId5"/>
              </p:custDataLst>
            </p:nvPr>
          </p:nvSpPr>
          <p:spPr>
            <a:xfrm flipH="1">
              <a:off x="0" y="4462199"/>
              <a:ext cx="1542284" cy="238680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三角形 8"/>
            <p:cNvSpPr/>
            <p:nvPr>
              <p:custDataLst>
                <p:tags r:id="rId6"/>
              </p:custDataLst>
            </p:nvPr>
          </p:nvSpPr>
          <p:spPr>
            <a:xfrm rot="10800000" flipH="1">
              <a:off x="757198" y="5462956"/>
              <a:ext cx="810531" cy="601211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7"/>
            </p:custDataLst>
          </p:nvPr>
        </p:nvGrpSpPr>
        <p:grpSpPr>
          <a:xfrm rot="10800000">
            <a:off x="10121900" y="0"/>
            <a:ext cx="2067560" cy="2386965"/>
            <a:chOff x="0" y="4462199"/>
            <a:chExt cx="2587015" cy="2386801"/>
          </a:xfrm>
        </p:grpSpPr>
        <p:sp>
          <p:nvSpPr>
            <p:cNvPr id="24" name="任意多边形: 形状 23"/>
            <p:cNvSpPr/>
            <p:nvPr>
              <p:custDataLst>
                <p:tags r:id="rId8"/>
              </p:custDataLst>
            </p:nvPr>
          </p:nvSpPr>
          <p:spPr>
            <a:xfrm flipH="1">
              <a:off x="1229405" y="5463474"/>
              <a:ext cx="1357610" cy="138552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三角形 7"/>
            <p:cNvSpPr/>
            <p:nvPr>
              <p:custDataLst>
                <p:tags r:id="rId9"/>
              </p:custDataLst>
            </p:nvPr>
          </p:nvSpPr>
          <p:spPr>
            <a:xfrm flipH="1">
              <a:off x="0" y="4462199"/>
              <a:ext cx="1542284" cy="238680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三角形 8"/>
            <p:cNvSpPr/>
            <p:nvPr>
              <p:custDataLst>
                <p:tags r:id="rId10"/>
              </p:custDataLst>
            </p:nvPr>
          </p:nvSpPr>
          <p:spPr>
            <a:xfrm rot="10800000" flipH="1">
              <a:off x="757198" y="5462956"/>
              <a:ext cx="810531" cy="601211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1522800" y="1637550"/>
            <a:ext cx="9144000" cy="17901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4500" b="1" strike="noStrike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5"/>
            </p:custDataLst>
          </p:nvPr>
        </p:nvSpPr>
        <p:spPr>
          <a:xfrm>
            <a:off x="1522413" y="4069800"/>
            <a:ext cx="9144000" cy="12420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117600" y="6356351"/>
            <a:ext cx="36576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84800" y="6356351"/>
            <a:ext cx="54864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80800" y="6356351"/>
            <a:ext cx="36576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8708" y="98448"/>
            <a:ext cx="10348383" cy="75723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67833" y="1081089"/>
            <a:ext cx="11142133" cy="505618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8" Type="http://schemas.openxmlformats.org/officeDocument/2006/relationships/theme" Target="../theme/theme2.xml"/><Relationship Id="rId27" Type="http://schemas.openxmlformats.org/officeDocument/2006/relationships/tags" Target="../tags/tag191.xml"/><Relationship Id="rId26" Type="http://schemas.openxmlformats.org/officeDocument/2006/relationships/tags" Target="../tags/tag190.xml"/><Relationship Id="rId25" Type="http://schemas.openxmlformats.org/officeDocument/2006/relationships/tags" Target="../tags/tag189.xml"/><Relationship Id="rId24" Type="http://schemas.openxmlformats.org/officeDocument/2006/relationships/tags" Target="../tags/tag188.xml"/><Relationship Id="rId23" Type="http://schemas.openxmlformats.org/officeDocument/2006/relationships/tags" Target="../tags/tag187.xml"/><Relationship Id="rId22" Type="http://schemas.openxmlformats.org/officeDocument/2006/relationships/tags" Target="../tags/tag186.xml"/><Relationship Id="rId21" Type="http://schemas.openxmlformats.org/officeDocument/2006/relationships/image" Target="../media/image1.png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>
            <a:alphaModFix amt="1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0040" y="219075"/>
            <a:ext cx="11821160" cy="691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9405" y="1100455"/>
            <a:ext cx="11821795" cy="5259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9405" y="643318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217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91015" y="64217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75945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5189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1">
            <a:alphaModFix amt="1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69883" y="1189673"/>
            <a:ext cx="10852237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69883" y="1571631"/>
            <a:ext cx="10852237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879743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5"/>
            </p:custDataLst>
          </p:nvPr>
        </p:nvSpPr>
        <p:spPr>
          <a:xfrm>
            <a:off x="4116000" y="5619625"/>
            <a:ext cx="396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6"/>
            </p:custDataLst>
          </p:nvPr>
        </p:nvSpPr>
        <p:spPr>
          <a:xfrm>
            <a:off x="8610600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7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2011680"/>
            <a:ext cx="6185001" cy="1051560"/>
          </a:xfrm>
        </p:spPr>
        <p:txBody>
          <a:bodyPr wrap="none"/>
          <a:lstStyle/>
          <a:p>
            <a:r>
              <a:rPr sz="54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Web编程</a:t>
            </a:r>
            <a:endParaRPr sz="54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3308350"/>
            <a:ext cx="6309360" cy="1828800"/>
          </a:xfrm>
        </p:spPr>
        <p:txBody>
          <a:bodyPr wrap="none"/>
          <a:lstStyle/>
          <a:p>
            <a:r>
              <a:rPr sz="28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第8周 · 交互驱动：DOM 与事件流</a:t>
            </a:r>
            <a:endParaRPr sz="280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2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从「数据驱动渲染」到「交互驱动状态更新」</a:t>
            </a:r>
            <a:endParaRPr sz="22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AI增强型工程实践</a:t>
            </a:r>
            <a:endParaRPr sz="2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none"/>
          <a:lstStyle/>
          <a:p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蔡树彬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 wrap="none"/>
          <a:lstStyle/>
          <a:p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2026.10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本周核心问题：交互如何进入这个闭环？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5639435" cy="187452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W7 建立的环</a:t>
            </a:r>
            <a:endParaRPr sz="19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改数据  →  save()  →  render()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todos 是唯一数据源，render() 把数据画成 DOM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532120" cy="1874519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还缺的一</a:t>
            </a:r>
            <a:r>
              <a:rPr lang="zh-CN"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用户点击  →  事件识别  →  修改状态  →  重渲染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点击这个动作，代码是怎么「接住」的？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3364992"/>
            <a:ext cx="11292840" cy="105156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905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sz="24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特别的，</a:t>
            </a:r>
            <a:r>
              <a:rPr sz="24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</a:t>
            </a:r>
            <a:r>
              <a:rPr lang="zh-CN" sz="24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在动态列表上</a:t>
            </a:r>
            <a:r>
              <a:rPr sz="24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点击「删除」时，代码是怎么捕获这个点击的？</a:t>
            </a:r>
            <a:endParaRPr sz="24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4617720"/>
            <a:ext cx="11292840" cy="132588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905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71720"/>
            <a:ext cx="10789920" cy="81851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事件委托是动态列表一种</a:t>
            </a:r>
            <a:r>
              <a:rPr lang="zh-CN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恰当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的交互组织方式；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可以辅助调试，但</a:t>
            </a:r>
            <a:r>
              <a:rPr lang="zh-CN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人要主导整个调试过程，要调有所得。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DOM 的本质：内存中的对象树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5486400" cy="288036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document</a:t>
            </a:r>
            <a:endParaRPr sz="17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+-- html</a:t>
            </a:r>
            <a:endParaRPr sz="17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+-- head   -&gt; meta, title</a:t>
            </a:r>
            <a:endParaRPr sz="17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+-- body</a:t>
            </a:r>
            <a:endParaRPr sz="17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+-- h1</a:t>
            </a:r>
            <a:endParaRPr sz="17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+-- </a:t>
            </a:r>
            <a:r>
              <a:rPr sz="1700" b="0">
                <a:solidFill>
                  <a:srgbClr val="FF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ul</a:t>
            </a:r>
            <a:r>
              <a:rPr sz="17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#list</a:t>
            </a:r>
            <a:endParaRPr sz="17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+-- li   </a:t>
            </a:r>
            <a:r>
              <a:rPr sz="1700" b="0">
                <a:solidFill>
                  <a:srgbClr val="FF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dataset.id = 101</a:t>
            </a:r>
            <a:endParaRPr sz="17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 +-- li   dataset.id = 102</a:t>
            </a:r>
            <a:endParaRPr sz="17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每个节点都是一个 JS 对象</a:t>
            </a:r>
            <a:endParaRPr sz="17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DOM 树（内存中的对象结构）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72200" y="1417320"/>
            <a:ext cx="5577840" cy="288036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 dataset</a:t>
            </a:r>
            <a:r>
              <a:rPr lang="en-US"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.id</a:t>
            </a: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600" b="0">
                <a:solidFill>
                  <a:srgbClr val="2B2B2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todos.forEach(t=&gt;{ //…… </a:t>
            </a:r>
            <a:r>
              <a:rPr lang="zh-CN" altLang="en-US" sz="1600" b="0">
                <a:solidFill>
                  <a:srgbClr val="2B2B2B"/>
                </a:solidFill>
                <a:latin typeface="Consolas" panose="020B0609020204030204"/>
                <a:ea typeface="宋体" panose="02010600030101010101" pitchFamily="2" charset="-122"/>
                <a:cs typeface="Consolas" panose="020B0609020204030204"/>
              </a:rPr>
              <a:t>对每个</a:t>
            </a:r>
            <a:r>
              <a:rPr lang="en-US" altLang="zh-CN" sz="1600" b="0">
                <a:solidFill>
                  <a:srgbClr val="2B2B2B"/>
                </a:solidFill>
                <a:latin typeface="Consolas" panose="020B0609020204030204"/>
                <a:ea typeface="宋体" panose="02010600030101010101" pitchFamily="2" charset="-122"/>
                <a:cs typeface="Consolas" panose="020B0609020204030204"/>
              </a:rPr>
              <a:t>todos</a:t>
            </a:r>
            <a:r>
              <a:rPr lang="zh-CN" altLang="en-US" sz="1600" b="0">
                <a:solidFill>
                  <a:srgbClr val="2B2B2B"/>
                </a:solidFill>
                <a:latin typeface="Consolas" panose="020B0609020204030204"/>
                <a:ea typeface="宋体" panose="02010600030101010101" pitchFamily="2" charset="-122"/>
                <a:cs typeface="Consolas" panose="020B0609020204030204"/>
              </a:rPr>
              <a:t>的项</a:t>
            </a:r>
            <a:r>
              <a:rPr lang="en-US" altLang="zh-CN" sz="1600" b="0">
                <a:solidFill>
                  <a:srgbClr val="2B2B2B"/>
                </a:solidFill>
                <a:latin typeface="Consolas" panose="020B0609020204030204"/>
                <a:ea typeface="宋体" panose="02010600030101010101" pitchFamily="2" charset="-122"/>
                <a:cs typeface="Consolas" panose="020B0609020204030204"/>
              </a:rPr>
              <a:t>t</a:t>
            </a:r>
            <a:endParaRPr sz="1600" b="0">
              <a:solidFill>
                <a:srgbClr val="2B2B2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B2B2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li.addEventListener('click', () =&gt;</a:t>
            </a:r>
            <a:endParaRPr sz="1600" b="0">
              <a:solidFill>
                <a:srgbClr val="2B2B2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B2B2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toggleTodo(t.id));   // 闭包</a:t>
            </a:r>
            <a:r>
              <a:rPr lang="zh-CN" sz="1600" b="0">
                <a:solidFill>
                  <a:srgbClr val="2B2B2B"/>
                </a:solidFill>
                <a:latin typeface="Consolas" panose="020B0609020204030204"/>
                <a:ea typeface="宋体" panose="02010600030101010101" pitchFamily="2" charset="-122"/>
                <a:cs typeface="Consolas" panose="020B0609020204030204"/>
              </a:rPr>
              <a:t>使能拿到</a:t>
            </a:r>
            <a:r>
              <a:rPr sz="1600" b="0">
                <a:solidFill>
                  <a:srgbClr val="2B2B2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t.id</a:t>
            </a:r>
            <a:endParaRPr sz="1600" b="0">
              <a:solidFill>
                <a:srgbClr val="2B2B2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});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 li 和绑监听在同一处，拿得到 t</a:t>
            </a:r>
            <a:r>
              <a:rPr lang="en-US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.id</a:t>
            </a:r>
            <a:r>
              <a:rPr lang="zh-CN" altLang="en-US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，能控制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为了避免频繁创建</a:t>
            </a:r>
            <a:r>
              <a:rPr lang="en-US" altLang="zh-CN"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</a:t>
            </a:r>
            <a:r>
              <a:rPr lang="zh-CN" altLang="en-US"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和绑监听，可以</a:t>
            </a:r>
            <a:r>
              <a:rPr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改成事件委托：</a:t>
            </a:r>
            <a:endParaRPr sz="18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处理函数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挂在父容器</a:t>
            </a:r>
            <a:r>
              <a:rPr lang="en-US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ul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上，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不知道要控制哪个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必须让 DOM 节点自己记住它是哪条数据</a:t>
            </a:r>
            <a:endParaRPr sz="18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4526280"/>
            <a:ext cx="11292840" cy="77724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  DOM 不是 HTML 文本，是内存里能被 JS 增删改的树 —— createElement 造节点，append 挂分支，dataset 让节点记住它是哪条数据。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1129284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7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◇  DOM 把文档抽象成一棵对象树，事件委托把 N 个监听器抽象成 1 个稳定锚点</a:t>
            </a:r>
            <a:endParaRPr sz="17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7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抽象不是为了少写代码，而是把「会变的部分」隔离在「不变的边界」之外。</a:t>
            </a:r>
            <a:endParaRPr sz="17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W7 的遗留代价：重画与监听器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11292840" cy="86868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W7 </a:t>
            </a:r>
            <a:r>
              <a:rPr lang="zh-CN"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1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「li 是每次新建的 —— 旧元素连同旧监听一起丢弃，不会重复绑定」</a:t>
            </a:r>
            <a:endParaRPr sz="21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331720"/>
          <a:ext cx="11292840" cy="1600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8549640"/>
              </a:tblGrid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追问</a:t>
                      </a:r>
                      <a:endParaRPr sz="1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回答</a:t>
                      </a:r>
                      <a:endParaRPr sz="1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这句话成立吗？</a:t>
                      </a:r>
                      <a:endParaRPr sz="19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成立。W7 的做法没有问题，重画不会导致重复绑定</a:t>
                      </a:r>
                      <a:endParaRPr sz="19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那代价是什么？</a:t>
                      </a:r>
                      <a:endParaRPr sz="19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zh-CN" altLang="en-US"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每次数据更新会触发 </a:t>
                      </a:r>
                      <a:r>
                        <a:rPr lang="en-US" altLang="zh-CN"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render() </a:t>
                      </a:r>
                      <a:r>
                        <a:rPr lang="zh-CN" altLang="en-US"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重画整个列表。为了让新画出来的节点能响应点击，</a:t>
                      </a:r>
                      <a:r>
                        <a:rPr lang="zh-CN"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</a:t>
                      </a:r>
                      <a:r>
                        <a:rPr lang="zh-CN" altLang="en-US"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 </a:t>
                      </a:r>
                      <a:r>
                        <a:rPr lang="en-US" altLang="zh-CN"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 </a:t>
                      </a:r>
                      <a:r>
                        <a:rPr lang="zh-CN" altLang="en-US"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个监听器重新绑定一遍。</a:t>
                      </a:r>
                      <a:endParaRPr lang="zh-CN" altLang="en-US" sz="19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114800"/>
            <a:ext cx="4475480" cy="146304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绑定在旧节点上的监听器不会自动迁移，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因此直接绑定方案需要重新维护监听器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88585" y="4114800"/>
            <a:ext cx="6561455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少量如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10个任务这样重建没问题；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高频更新大规模节点时，粗粒度重建会产生不必要的工作。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92840" cy="73152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  理解了代价，</a:t>
            </a:r>
            <a:r>
              <a:rPr lang="zh-CN" sz="19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就可以</a:t>
            </a:r>
            <a:r>
              <a:rPr sz="19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知道为什么要换一种交互组织方式</a:t>
            </a:r>
            <a:endParaRPr sz="19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事件流：一条有方向的传播路径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353185"/>
          <a:ext cx="6410960" cy="263461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09420"/>
                <a:gridCol w="4701540"/>
              </a:tblGrid>
              <a:tr h="59309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1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  <a:endParaRPr sz="1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6800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捕获阶段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从传播路径的外层向目标方向传播，执行相应捕获监听器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6807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目标阶段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事件到达目标元素，执行该目标上的相应监听器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6807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冒泡阶段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支持冒泡的事件，沿传播路径从目标向外传播，执行相应非捕获监听器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063105" y="1353185"/>
            <a:ext cx="4686935" cy="2587625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window</a:t>
            </a:r>
            <a:endParaRPr sz="14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|  捕获: 由外向内</a:t>
            </a:r>
            <a:endParaRPr sz="14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v</a:t>
            </a:r>
            <a:endParaRPr sz="14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document &gt; html &gt; body</a:t>
            </a:r>
            <a:endParaRPr sz="14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v</a:t>
            </a:r>
            <a:endParaRPr sz="14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ul#list &gt; li &gt; button</a:t>
            </a:r>
            <a:endParaRPr sz="14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   ^^ 目标阶段</a:t>
            </a:r>
            <a:endParaRPr sz="14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^</a:t>
            </a:r>
            <a:endParaRPr sz="14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|  冒泡: 由内向外（委托依赖这段）</a:t>
            </a:r>
            <a:endParaRPr sz="14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window</a:t>
            </a:r>
            <a:endParaRPr sz="14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63105" y="933577"/>
            <a:ext cx="420624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传播路径示意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4153535"/>
            <a:ext cx="11292840" cy="111633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事件委托依赖「冒泡」：父容器上的监听器，可以识别来自后代元素的事件。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此时</a:t>
            </a: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交互就不必再绑在每个子节点上。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5379085"/>
            <a:ext cx="11292840" cy="73152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三阶段说的是「事件走过哪些地方」，不是「DOM 树的形状」—— 传播路径与树有关，但不等同。</a:t>
            </a:r>
            <a:endParaRPr sz="18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event.target 与 event.currentTarget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53312"/>
          <a:ext cx="11292840" cy="1965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3291840"/>
                <a:gridCol w="5257800"/>
              </a:tblGrid>
              <a:tr h="655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属性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含义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关键区分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event.target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实际触发事件的元素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点的是按钮里的 span，它就是 span；冒泡过程中不变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event.currentTarget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当前正在执行回调的那个元素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对同一个监听器，等于绑定它的元素（不变）；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不同层级的监听器，各自的值不同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3879850"/>
            <a:ext cx="5394960" cy="173736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&lt;ul id="list"&gt;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&lt;li&gt;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&lt;button&gt;&lt;span&gt;删除&lt;/span&gt;&lt;/button&gt;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&lt;/li&gt;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&lt;/ul&gt;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3337560"/>
            <a:ext cx="539496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嵌套结构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80760" y="3852417"/>
            <a:ext cx="5669280" cy="1764792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7760" y="3981958"/>
            <a:ext cx="5212080" cy="150558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17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ul.addEventListener('click', (e) =&gt; {</a:t>
            </a:r>
            <a:endParaRPr lang="en-US" altLang="zh-CN" sz="17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7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// 这个 </a:t>
            </a:r>
            <a:r>
              <a:rPr lang="en-US" altLang="zh-CN" sz="17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</a:t>
            </a:r>
            <a:r>
              <a:rPr lang="zh-CN" altLang="en-US" sz="17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 </a:t>
            </a:r>
            <a:r>
              <a:rPr lang="en-US" altLang="zh-CN" sz="17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event </a:t>
            </a:r>
            <a:r>
              <a:rPr lang="zh-CN" altLang="en-US" sz="17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对象，</a:t>
            </a:r>
            <a:r>
              <a:rPr lang="zh-CN" altLang="en-US" sz="170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记录了事件信息</a:t>
            </a:r>
            <a:endParaRPr lang="zh-CN" altLang="en-US" sz="17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7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// 它有</a:t>
            </a:r>
            <a:r>
              <a:rPr lang="en-US" altLang="zh-CN" sz="17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</a:t>
            </a:r>
            <a:r>
              <a:rPr lang="zh-CN" altLang="en-US" sz="17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7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currentTarget</a:t>
            </a:r>
            <a:r>
              <a:rPr lang="zh-CN" altLang="en-US" sz="17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两个属性</a:t>
            </a:r>
            <a:endParaRPr lang="zh-CN" altLang="en-US" sz="17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17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});</a:t>
            </a:r>
            <a:r>
              <a:rPr sz="17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7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阻断传播的边界：两种做法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4117975"/>
            <a:ext cx="5024755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直接绑定</a:t>
            </a:r>
            <a:r>
              <a:rPr lang="en-US" sz="1900" b="1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sz="1900" b="1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 一个监听器，删除按钮一个监听器，两者各自独立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（删除按钮是</a:t>
            </a:r>
            <a:r>
              <a:rPr lang="en-US" alt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</a:t>
            </a:r>
            <a:r>
              <a:rPr lang="zh-CN" altLang="en-US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的后代）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e.stopPropagation() 阻断</a:t>
            </a:r>
            <a:r>
              <a:rPr lang="zh-CN" altLang="en-US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了删除按钮到</a:t>
            </a:r>
            <a:r>
              <a:rPr lang="en-US" alt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</a:t>
            </a:r>
            <a:r>
              <a:rPr lang="zh-CN" altLang="en-US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的冒泡</a:t>
            </a:r>
            <a:endParaRPr lang="zh-CN" altLang="en-US"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811520" y="4117975"/>
            <a:ext cx="5993130" cy="214884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事件委托</a:t>
            </a:r>
            <a:r>
              <a:rPr lang="zh-CN" sz="1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19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列表只有 ul#list 上的一个监听器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if (是删除) { deleteTodo(); return; } 分流即可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在事件委托架构中，优先用操作分流（</a:t>
            </a:r>
            <a:r>
              <a:rPr lang="en-US" alt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return）</a:t>
            </a:r>
            <a:r>
              <a:rPr lang="zh-CN" altLang="en-US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解决冲突，而非阻断事件继续传给更上层节点。</a:t>
            </a:r>
            <a:endParaRPr lang="zh-CN" altLang="en-US"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7200" y="1181735"/>
            <a:ext cx="5024120" cy="2584450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//</a:t>
            </a:r>
            <a:r>
              <a:rPr lang="zh-CN" altLang="en-US">
                <a:solidFill>
                  <a:schemeClr val="bg1"/>
                </a:solidFill>
              </a:rPr>
              <a:t>事件绑在子元素上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li.addEventListener('click', () =&gt; 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toggleTodo(t.id); // </a:t>
            </a:r>
            <a:r>
              <a:rPr lang="zh-CN" altLang="en-US">
                <a:solidFill>
                  <a:schemeClr val="bg1"/>
                </a:solidFill>
              </a:rPr>
              <a:t>切换状态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});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delBtn.addEventListener('click', (e) =&gt; 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e.stopPropagation(); // ⚠️ </a:t>
            </a:r>
            <a:r>
              <a:rPr lang="zh-CN" altLang="en-US">
                <a:solidFill>
                  <a:schemeClr val="bg1"/>
                </a:solidFill>
              </a:rPr>
              <a:t>在这里阻断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deleteTodo(t.id);    // </a:t>
            </a:r>
            <a:r>
              <a:rPr lang="zh-CN" altLang="en-US">
                <a:solidFill>
                  <a:schemeClr val="bg1"/>
                </a:solidFill>
              </a:rPr>
              <a:t>删除任务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});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11190" y="628015"/>
            <a:ext cx="6223000" cy="3138170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// </a:t>
            </a:r>
            <a:r>
              <a:rPr lang="zh-CN" altLang="en-US">
                <a:solidFill>
                  <a:schemeClr val="bg1"/>
                </a:solidFill>
              </a:rPr>
              <a:t>事件统一定义在父容器 </a:t>
            </a:r>
            <a:r>
              <a:rPr lang="en-US" altLang="zh-CN">
                <a:solidFill>
                  <a:schemeClr val="bg1"/>
                </a:solidFill>
              </a:rPr>
              <a:t>ul </a:t>
            </a:r>
            <a:r>
              <a:rPr lang="zh-CN" altLang="en-US">
                <a:solidFill>
                  <a:schemeClr val="bg1"/>
                </a:solidFill>
              </a:rPr>
              <a:t>上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list.addEventListener('click', (e) =&gt; 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const item = e.target.closest('li');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if (!item) return;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if (e.target.closest('[data-action="delete"]')) 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deleteTodo(item.dataset.id);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return; // </a:t>
            </a:r>
            <a:r>
              <a:rPr lang="zh-CN" altLang="en-US">
                <a:solidFill>
                  <a:schemeClr val="bg1"/>
                </a:solidFill>
              </a:rPr>
              <a:t>用 </a:t>
            </a:r>
            <a:r>
              <a:rPr lang="en-US" altLang="zh-CN">
                <a:solidFill>
                  <a:schemeClr val="bg1"/>
                </a:solidFill>
              </a:rPr>
              <a:t>return </a:t>
            </a:r>
            <a:r>
              <a:rPr lang="zh-CN" altLang="en-US">
                <a:solidFill>
                  <a:schemeClr val="bg1"/>
                </a:solidFill>
              </a:rPr>
              <a:t>进行分流，而不是 </a:t>
            </a:r>
            <a:r>
              <a:rPr lang="en-US" altLang="zh-CN">
                <a:solidFill>
                  <a:schemeClr val="bg1"/>
                </a:solidFill>
              </a:rPr>
              <a:t>stopPropagation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}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toggleTodo(item.dataset.id);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});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事件委托：动态列表中一种适合的交互组织方式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11292840" cy="77724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905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利用事件冒泡，把交互处理与子节点的创建、销毁解耦</a:t>
            </a:r>
            <a:endParaRPr sz="22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3611880" cy="173736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动态元素自动支持</a:t>
            </a:r>
            <a:endParaRPr sz="19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新增子元素无需重新绑定，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不必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重复创建、销毁监听器</a:t>
            </a:r>
            <a:endParaRPr lang="zh-CN"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297680" y="2286000"/>
            <a:ext cx="3611880" cy="173736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交互与生命周期解耦</a:t>
            </a:r>
            <a:endParaRPr sz="19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父容器是稳定锚点，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子节点的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变化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与它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解耦</a:t>
            </a:r>
            <a:endParaRPr lang="zh-CN"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138160" y="2286000"/>
            <a:ext cx="3611880" cy="173736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统一状态闭环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父容器识别操作 → 改数据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重渲染（回到 W7 闭环）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5532120" cy="141732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为什么不直接绑</a:t>
            </a:r>
            <a:endParaRPr sz="19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 render() 重建，旧监听器不会自动迁移；新增元素无法自动拥有监听器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4206240"/>
            <a:ext cx="553212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适用条件</a:t>
            </a:r>
            <a:endParaRPr sz="1900" b="1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动态子元素较多、父容器稳定、事件可沿传播路径到达；元素少、交互独立时，直接绑定也合理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5806440"/>
            <a:ext cx="11292840" cy="73152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既然事件委托这么合适 —— 那怎么安全地识别用户点的到底是哪个子元素？→ closest()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使用closest()的注意事项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49580" y="1737360"/>
            <a:ext cx="11292840" cy="16002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list.addEventListener('click', (e)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id = e.target.closest('li').dataset.id;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deleteTodo(id);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92840" cy="38989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一种可能的写法：</a:t>
            </a:r>
            <a:endParaRPr lang="zh-CN"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3520440"/>
            <a:ext cx="11292840" cy="100584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现象：正常点击列表项没问题；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</a:t>
            </a:r>
            <a:r>
              <a:rPr lang="zh-CN" sz="1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有时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控制台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报错：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54C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Cannot read properties of null (reading 'dataset')</a:t>
            </a:r>
            <a:endParaRPr sz="1900" b="1">
              <a:solidFill>
                <a:srgbClr val="E54C5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4709160"/>
            <a:ext cx="11292840" cy="123444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905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为什么？</a:t>
            </a:r>
            <a:endParaRPr sz="25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dataset</a:t>
            </a:r>
            <a:r>
              <a:rPr lang="zh-CN" sz="21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为什么为</a:t>
            </a:r>
            <a:r>
              <a:rPr lang="en-US" altLang="zh-CN" sz="21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null</a:t>
            </a:r>
            <a:r>
              <a:rPr lang="zh-CN" altLang="en-US" sz="21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lang="zh-CN" altLang="en-US" sz="21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closest()：完整防御写法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389888"/>
            <a:ext cx="11292840" cy="411480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list.addEventListener('click', (e)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(!(e.target instanceof Element)) return;      // ① 防：不是元素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item = e.target.closest('li');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</a:t>
            </a:r>
            <a:r>
              <a:rPr sz="1800" b="0">
                <a:solidFill>
                  <a:srgbClr val="FF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!item</a:t>
            </a: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|| !list.contains(item)) return;       // ② ③ 防：空值 / 越界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id = item.dataset.id;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(!id) return;                                 // ④ 防：没有 data-id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</a:t>
            </a:r>
            <a:r>
              <a:rPr lang="en-US" altLang="zh-CN"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delBtn = e.target.closest('[data-action="delete"]');</a:t>
            </a:r>
            <a:endParaRPr lang="en-US" altLang="zh-CN"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(delBtn &amp;&amp; item.contains(delBtn))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deleteTodo(id);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return;                                        // ⑤ 分流后返回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toggleTodo(id);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9284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每一层边界都要处理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5669280"/>
            <a:ext cx="2185416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endParaRPr sz="1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防：target 不是元素</a:t>
            </a:r>
            <a:endParaRPr sz="15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34056" y="5669280"/>
            <a:ext cx="2185416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endParaRPr sz="18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防：点空白 → null</a:t>
            </a:r>
            <a:endParaRPr sz="15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10912" y="5669280"/>
            <a:ext cx="2185416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endParaRPr sz="1800" b="1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防御冗余；挂更高层才需要</a:t>
            </a:r>
            <a:endParaRPr sz="15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287768" y="5669280"/>
            <a:ext cx="2185416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endParaRPr sz="1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防：li 上没有 data-id</a:t>
            </a:r>
            <a:endParaRPr sz="15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564624" y="5669280"/>
            <a:ext cx="2185416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endParaRPr sz="18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分流 + return 防冲突</a:t>
            </a:r>
            <a:endParaRPr sz="15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边界条件：不是所有事件都能冒泡式委托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92840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71520"/>
                <a:gridCol w="3148965"/>
                <a:gridCol w="4872352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不冒泡的事件</a:t>
                      </a:r>
                      <a:endParaRPr sz="1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冒泡的替代</a:t>
                      </a:r>
                      <a:endParaRPr sz="1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  <a:endParaRPr sz="1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focus / blur</a:t>
                      </a:r>
                      <a:endParaRPr sz="19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focusin / focusout</a:t>
                      </a:r>
                      <a:endParaRPr sz="19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表单聚焦类最常用的委托替代</a:t>
                      </a:r>
                      <a:endParaRPr sz="19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mouseenter / mouseleave</a:t>
                      </a:r>
                      <a:endParaRPr sz="19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mouseover / mouseout</a:t>
                      </a:r>
                      <a:endParaRPr sz="19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悬停类容易踩的坑：enter/leave 不冒泡</a:t>
                      </a:r>
                      <a:endParaRPr sz="19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3480435"/>
            <a:ext cx="11292840" cy="1365885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事件委托的前提是「事件能沿传播路径到达委托节点」。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不冒泡的事件，要么换用对应的冒泡版本，要么直接绑定。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· DOM API 速查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92840" cy="3566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8915400"/>
              </a:tblGrid>
              <a:tr h="50945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用途</a:t>
                      </a:r>
                      <a:endParaRPr sz="1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API</a:t>
                      </a:r>
                      <a:endParaRPr sz="1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选择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querySelector / querySelectorAll / closest / matches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增改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createElement / append / prepend / insertBefore / replaceChildren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删除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remove() / removeChild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属性与内容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dataset / classList(add·remove·toggle·contains) / textContent / innerHTML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addEventListener(type, fn, options) / removeEventListener</a:t>
                      </a:r>
                      <a:r>
                        <a:rPr lang="en-US"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监听器是一个集合，要传入</a:t>
                      </a:r>
                      <a:r>
                        <a:rPr lang="en-US" altLang="zh-CN"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</a:t>
                      </a:r>
                      <a:r>
                        <a:rPr lang="zh-CN" altLang="en-US"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时的函数引用才能移除，否则静默失败；匿名函数不能</a:t>
                      </a:r>
                      <a:r>
                        <a:rPr lang="en-US" altLang="zh-CN"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remove</a:t>
                      </a:r>
                      <a:r>
                        <a:rPr lang="zh-CN" altLang="en-US"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Event 常用属性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target / currentTarget / type / preventDefault() / stopPropagation()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从「审查」到「调试」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5394960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AI-1（W1-W7）</a:t>
            </a:r>
            <a:endParaRPr sz="1900" b="1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是：代码生成器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我是：裁判 —— 审查它对不对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核心动作：生成 → 审查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证据标准：代码与需求是否一致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55080" y="1554480"/>
            <a:ext cx="5394960" cy="210312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AI-2（W8 起）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是：调试搭档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我是：侦探 —— 人主导定位，AI 辅助验证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核心动作：假设 → 验证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证据标准：运行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过程、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结果是否证明修复有效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760220" y="3840480"/>
            <a:ext cx="8243570" cy="1638935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9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裁判是在门外打分，侦探要走进现场找线索。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这周起，提问的方式要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「帮我改」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变成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「我怀疑是……」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5528945"/>
            <a:ext cx="11292840" cy="82296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23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 AI 可以辅助调试，但运行</a:t>
            </a:r>
            <a:r>
              <a:rPr lang="zh-CN" sz="23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过程、结果</a:t>
            </a:r>
            <a:r>
              <a:rPr sz="23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证据才能确认修复。</a:t>
            </a:r>
            <a:endParaRPr sz="23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AI-2 核心方法：调试五步法（</a:t>
            </a:r>
            <a:r>
              <a:rPr sz="2800">
                <a:solidFill>
                  <a:srgbClr val="4874CB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错题本</a:t>
            </a:r>
            <a:r>
              <a:rPr lang="en-US" altLang="zh-CN" sz="2800">
                <a:solidFill>
                  <a:srgbClr val="4874CB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通过调试，成长自己能力）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11292840" cy="50292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第一阶段：定位原因（先形成自己的假设，再让 AI 帮忙分析）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观察现象，提取证据   ← 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能复现（报错信息、触发条件）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2587752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描述上下文，明确问题 ← 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要让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别人能看懂（代码 + 预期 vs 实际）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3255264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先猜原因，再问 AI    ←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有依据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（虽然可能是错误，但可以验证）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要盲目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瞎猜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4041648"/>
            <a:ext cx="11292840" cy="50292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第二阶段：修复与验证</a:t>
            </a:r>
            <a:endParaRPr sz="20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4636008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依据原因，实施修复   ← 能解释为什么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这么改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，能预测运行过程、结果</a:t>
            </a:r>
            <a:endParaRPr lang="zh-CN"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5303520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 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运行验证，AI 辅助审查 ← </a:t>
            </a:r>
            <a:r>
              <a:rPr lang="zh-CN" sz="19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提取过程证据，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原错误场景 + </a:t>
            </a:r>
            <a:r>
              <a:rPr lang="zh-CN"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可能的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边界场景，</a:t>
            </a:r>
            <a:endParaRPr lang="zh-CN"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457200" y="6053328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每一步都有产出 —— 做完一步，留下一个可检查的证据；五步走完，才算一次完整的调试。</a:t>
            </a:r>
            <a:endParaRPr sz="18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 AI 幻觉：它会编得很像真的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92840" cy="86868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会「编造」看似合理的错误原因或修复方案 —— 术语准确、语气笃定，但站不住脚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2423160"/>
            <a:ext cx="3611880" cy="210312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编造 API</a:t>
            </a:r>
            <a:endParaRPr sz="19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说某个方法存在，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标准里根本没有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297680" y="2423160"/>
            <a:ext cx="3611880" cy="210312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过时语法 / 无视兼容</a:t>
            </a:r>
            <a:endParaRPr sz="19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推荐已废弃的方法，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或无视浏览器差异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138160" y="2423160"/>
            <a:ext cx="3611880" cy="210312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因果倒置</a:t>
            </a:r>
            <a:endParaRPr sz="19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报错在 A 行，非说 B 行没写，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修复反而破坏正确逻辑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4709160"/>
            <a:ext cx="11292840" cy="105156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905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「浏览器引擎不会撒谎，AI 会。」</a:t>
            </a:r>
            <a:endParaRPr sz="26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人要主导整个调试过程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三个核心误区：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249045"/>
            <a:ext cx="6783070" cy="162000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误区 1：把 AI 的「原因」当结论</a:t>
            </a:r>
            <a:endParaRPr sz="19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说「是作用域问题」，你就信了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抓手（自问）：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 AI 之前，我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有先自己想，先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写下自己的猜测了吗？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3037205"/>
            <a:ext cx="6783070" cy="162000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误区 2：把「AI 审查通过」当修复确认</a:t>
            </a:r>
            <a:endParaRPr sz="19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说「改好了」，你就提交了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抓手（自问）：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我在浏览器里实际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过了吗？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4825365"/>
            <a:ext cx="6783705" cy="1619885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误区 3：盲信报错位置</a:t>
            </a:r>
            <a:endParaRPr sz="19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报错在第 10 行，就只盯着第 10 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抓手（自问）：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报错在第 10 行，根因会不会在别处？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独立验证底线：AI 可以参与，但不能替你负责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1292840" cy="123444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905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先形成自己的可检验假设，再让 AI 帮助分析；</a:t>
            </a:r>
            <a:endParaRPr sz="24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先用运行证据确认修复，再让 AI 检查遗漏。</a:t>
            </a:r>
            <a:endParaRPr sz="24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11292840" cy="192024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905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29000"/>
            <a:ext cx="10652760" cy="86233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可以参与原因分析、提出修改建议和设计测试场景，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</a:t>
            </a:r>
            <a:r>
              <a:rPr lang="zh-CN"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</a:t>
            </a: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必须能够解释关键修改，并在浏览器中验证</a:t>
            </a:r>
            <a:r>
              <a:rPr lang="zh-CN"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过程、</a:t>
            </a: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结果。</a:t>
            </a:r>
            <a:endParaRPr sz="20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调试案例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92840" cy="13716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bg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list.addEventListener('click', (e) =&gt; {</a:t>
            </a:r>
            <a:endParaRPr sz="1800" b="0">
              <a:solidFill>
                <a:schemeClr val="bg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bg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id = e.target.dataset.id;</a:t>
            </a:r>
            <a:endParaRPr sz="1800" b="0">
              <a:solidFill>
                <a:schemeClr val="bg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bg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deleteTodo(id);</a:t>
            </a:r>
            <a:endParaRPr sz="1800" b="0">
              <a:solidFill>
                <a:schemeClr val="bg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chemeClr val="bg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r>
              <a:rPr lang="en-US" sz="1800" b="0">
                <a:solidFill>
                  <a:schemeClr val="bg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endParaRPr lang="en-US" sz="1800" b="0">
              <a:solidFill>
                <a:schemeClr val="bg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92840" cy="60325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点击了删除按钮，但什么都没发生</a:t>
            </a:r>
            <a:endParaRPr lang="zh-CN" altLang="en-US"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3438144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观察：console.log(e.target) → 发现是 button，不是 li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4014215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上下文：预期删除该行，实际 id 为 undefined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4590288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假设：target 层级不对，应向上找 li（先写下假设，再问 AI）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5166360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修复：改用 closest('li') —— 但注意，这只是 P9a 演示过的写法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742431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验证：正常点击 + 点击按钮内部，两种场景均能正确删除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挑战案例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92840" cy="164592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list.addEventListener('click', (e)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item = e.target.closest('li');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id = item.dataset.id;      // ← 报错在这一行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toggleTodo(id);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11293475" cy="60325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Uncaught TypeError: Cannot read properties of null (reading 'dataset')</a:t>
            </a:r>
            <a:endParaRPr lang="en-US" altLang="zh-CN" sz="18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3712463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观察：复现「点击 ul 空白处」这个触发条件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4288536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上下文：预期切换状态，实际直接崩溃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4864607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假设：空白处没有 li，closest 返回 null —— 报错位置 ≠ 根因位置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5440679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修复：加 if (!item) return; —— 空值边界要挡在读取属性之前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6016752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 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验证：原错误场景（点空白）+ 边界场景（点 li 内部）均正常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小结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3840480" cy="228600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能解释事件传播</a:t>
            </a:r>
            <a:endParaRPr sz="19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说清事件如何从目标传播到父容器，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 target 与 currentTarget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474210" y="1417320"/>
            <a:ext cx="3435350" cy="228600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能用事件委托</a:t>
            </a:r>
            <a:endParaRPr sz="19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完成列表的删除与切换，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并处理 closest() 的空值边界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138160" y="1417320"/>
            <a:ext cx="3611880" cy="228600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能按五步法调试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提出假设、实施修复，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并用浏览器测试证明修复有效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2"/>
          <p:cNvSpPr/>
          <p:nvPr/>
        </p:nvSpPr>
        <p:spPr>
          <a:xfrm>
            <a:off x="768985" y="3878580"/>
            <a:ext cx="10515600" cy="210312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905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</a:t>
            </a:r>
            <a:r>
              <a:rPr lang="en-US" altLang="zh-CN" sz="3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3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可以帮你指出错误，完成调试，</a:t>
            </a:r>
            <a:endParaRPr lang="zh-CN" altLang="en-US" sz="3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3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但真正的学习发生在你假设、验证和反思中</a:t>
            </a:r>
            <a:r>
              <a:rPr sz="3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」</a:t>
            </a:r>
            <a:endParaRPr sz="22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本周实验课：三个任务（80 分钟）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92840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914400"/>
                <a:gridCol w="4617720"/>
                <a:gridCol w="4572000"/>
              </a:tblGrid>
              <a:tr h="6172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验收标准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 1</a:t>
                      </a:r>
                      <a:endParaRPr sz="17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7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用事件委托重构列表交互（createElement + dataset.id；删除/切换统一交给父容器）</a:t>
                      </a:r>
                      <a:endParaRPr sz="17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新增节点无需单独绑监听器；删除与切换均能更新数据并重渲染</a:t>
                      </a:r>
                      <a:endParaRPr sz="17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 2</a:t>
                      </a:r>
                      <a:endParaRPr sz="17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7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AI-2 调试挑战：固定为 closest() 的 null 边界问题</a:t>
                      </a:r>
                      <a:endParaRPr sz="17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提交假设、修改说明与至少两种测试结果（原错误场景 + 边界场景）</a:t>
                      </a:r>
                      <a:endParaRPr sz="17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 3</a:t>
                      </a:r>
                      <a:endParaRPr sz="17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应做</a:t>
                      </a:r>
                      <a:endParaRPr sz="17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独立修改与边界验证：新增操作类型，或修复一个未覆盖的点击边界</a:t>
                      </a:r>
                      <a:endParaRPr sz="17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7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能解释事件如何被识别、状态在哪里修改、修改如何反映到界面</a:t>
                      </a:r>
                      <a:endParaRPr sz="17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023360"/>
            <a:ext cx="11292840" cy="132588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提交物（四项）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Git 仓库链接（含分支与提交记录）　② AI 协作记录（含调试五步法证据）　③ 任务 2 的两种测试结果截图　④ T2 命题任务（小组作业，第9周理论课前提交）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5577840"/>
            <a:ext cx="11292840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◇  时间分配：目标说明 5′ + 任务1 35′ + 任务2（含五步法记录）20′ + 任务3 10′ + 提交自检 10′ = 80′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2"/>
  <p:tag name="KSO_WM_UNIT_ID" val="_1*y*2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3"/>
  <p:tag name="KSO_WM_UNIT_ID" val="_1*y*3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4"/>
  <p:tag name="KSO_WM_UNIT_ID" val="_1*y*4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2*i*3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2*i*4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3*i*2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3*i*3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3*i*4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4*i*1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4*i*4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5*i*1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5*i*4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6*i*4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7*i*4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8*i*7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8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8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SHOW_EDIT_AREA_INDICATION" val="0"/>
  <p:tag name="KSO_WM_TEMPLATE_THUMBS_INDEX" val="1、4、5、6、7、8、9、11、13"/>
  <p:tag name="KSO_WM_TEMPLATE_SUBCATEGORY" val="0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2548"/>
  <p:tag name="KSO_WM_TEMPLATE_MASTER_TYPE" val="1"/>
</p:tagLst>
</file>

<file path=ppt/tags/tag192.xml><?xml version="1.0" encoding="utf-8"?>
<p:tagLst xmlns:p="http://schemas.openxmlformats.org/presentationml/2006/main">
  <p:tag name="TABLE_ENDDRAG_ORIGIN_RECT" val="504*207"/>
  <p:tag name="TABLE_ENDDRAG_RECT" val="36*106*504*207"/>
</p:tagLst>
</file>

<file path=ppt/tags/tag193.xml><?xml version="1.0" encoding="utf-8"?>
<p:tagLst xmlns:p="http://schemas.openxmlformats.org/presentationml/2006/main">
  <p:tag name="commondata" val="eyJoZGlkIjoiMmJjNjQ4Nzg3M2YyZjZkNGVhYWUxNjZmMjIyOWVhMG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5D53C4"/>
      </a:accent1>
      <a:accent2>
        <a:srgbClr val="815EC5"/>
      </a:accent2>
      <a:accent3>
        <a:srgbClr val="4B58C3"/>
      </a:accent3>
      <a:accent4>
        <a:srgbClr val="5697A8"/>
      </a:accent4>
      <a:accent5>
        <a:srgbClr val="54AD9D"/>
      </a:accent5>
      <a:accent6>
        <a:srgbClr val="53C495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6525</Words>
  <Application>WPS 演示</Application>
  <PresentationFormat>宽屏</PresentationFormat>
  <Paragraphs>483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汉仪旗黑-85S</vt:lpstr>
      <vt:lpstr>黑体</vt:lpstr>
      <vt:lpstr>隶书</vt:lpstr>
      <vt:lpstr>Viner Hand ITC</vt:lpstr>
      <vt:lpstr>Consolas</vt:lpstr>
      <vt:lpstr>Arial Unicode MS</vt:lpstr>
      <vt:lpstr>Calibri</vt:lpstr>
      <vt:lpstr>Mongolian Baiti</vt:lpstr>
      <vt:lpstr>Consolas</vt:lpstr>
      <vt:lpstr>汉仪旗黑-85S</vt:lpstr>
      <vt:lpstr>隶书</vt:lpstr>
      <vt:lpstr>汉仪旗黑Y4-85简</vt:lpstr>
      <vt:lpstr>华文隶书</vt:lpstr>
      <vt:lpstr>Kabel ITC</vt:lpstr>
      <vt:lpstr>WPS</vt:lpstr>
      <vt:lpstr>1_Office 主题​​</vt:lpstr>
      <vt:lpstr>Web编程</vt:lpstr>
      <vt:lpstr>本周核心问题：交互如何进入这个闭环？</vt:lpstr>
      <vt:lpstr>DOM 的本质：内存中的对象树</vt:lpstr>
      <vt:lpstr>W7 的遗留代价：重画与监听器</vt:lpstr>
      <vt:lpstr>事件流：一条有方向的传播路径</vt:lpstr>
      <vt:lpstr>核心辨析：event.target 与 event.currentTarget</vt:lpstr>
      <vt:lpstr>阻断传播的边界：W7 做法 vs W8 做法</vt:lpstr>
      <vt:lpstr>事件委托：动态列表中一种适合的交互组织方式</vt:lpstr>
      <vt:lpstr>closest()：错误写法与它的现象</vt:lpstr>
      <vt:lpstr>closest()：完整防御写法</vt:lpstr>
      <vt:lpstr>边界条件：不是所有事件都能冒泡式委托</vt:lpstr>
      <vt:lpstr>附录 · DOM API 速查（本页不讲，课后自取）</vt:lpstr>
      <vt:lpstr>认知翻转：从「审查」到「调试」</vt:lpstr>
      <vt:lpstr>AI-2 核心方法：调试五步法（每步都要有产出）</vt:lpstr>
      <vt:lpstr>识别 AI 幻觉：它会编得很像真的</vt:lpstr>
      <vt:lpstr>三个核心误区：AI-2 最常见的翻车点</vt:lpstr>
      <vt:lpstr>独立验证底线：AI 可以参与，但不能替你负责</vt:lpstr>
      <vt:lpstr>主案例：e.target 的层级错误（单击逐条揭晓）</vt:lpstr>
      <vt:lpstr>挑战案例：closest() 返回 null（单击逐条揭晓）</vt:lpstr>
      <vt:lpstr>第八周小结：三条产出</vt:lpstr>
      <vt:lpstr>本周实验课：三个任务（80 分钟）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Hawk Cai</dc:creator>
  <cp:lastModifiedBy>蔡树彬</cp:lastModifiedBy>
  <cp:revision>186</cp:revision>
  <dcterms:created xsi:type="dcterms:W3CDTF">2023-08-09T12:44:00Z</dcterms:created>
  <dcterms:modified xsi:type="dcterms:W3CDTF">2026-10-20T04:20:41Z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2052-12.1.0.29161</vt:lpwstr>
  </property>
</Properties>
</file>